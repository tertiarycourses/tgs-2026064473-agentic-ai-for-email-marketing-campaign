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372" r:id="rId12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People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Sheet1!$A$2:$A$6</c:f>
              <c:strCache>
                <c:ptCount val="5"/>
                <c:pt idx="0">
                  <c:v>Sent</c:v>
                </c:pt>
                <c:pt idx="1">
                  <c:v>Delivered</c:v>
                </c:pt>
                <c:pt idx="2">
                  <c:v>Opened</c:v>
                </c:pt>
                <c:pt idx="3">
                  <c:v>Clicked</c:v>
                </c:pt>
                <c:pt idx="4">
                  <c:v>Converted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10000</c:v>
                </c:pt>
                <c:pt idx="1">
                  <c:v>9700</c:v>
                </c:pt>
                <c:pt idx="2">
                  <c:v>3100</c:v>
                </c:pt>
                <c:pt idx="3">
                  <c:v>520</c:v>
                </c:pt>
                <c:pt idx="4">
                  <c:v>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Sheet1!$A$2:$A$5</c:f>
              <c:strCache>
                <c:ptCount val="4"/>
                <c:pt idx="0">
                  <c:v>Delivery %</c:v>
                </c:pt>
                <c:pt idx="1">
                  <c:v>Open %</c:v>
                </c:pt>
                <c:pt idx="2">
                  <c:v>CTR %</c:v>
                </c:pt>
                <c:pt idx="3">
                  <c:v>Conversion 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</c:v>
                </c:pt>
                <c:pt idx="1">
                  <c:v>32</c:v>
                </c:pt>
                <c:pt idx="2">
                  <c:v>4.5</c:v>
                </c:pt>
                <c:pt idx="3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F0674A"/>
            </a:solidFill>
            <a:ln>
              <a:solidFill>
                <a:srgbClr val="F0674A"/>
              </a:solidFill>
            </a:ln>
          </c:spPr>
          <c:cat>
            <c:strRef>
              <c:f>Sheet1!$A$2:$A$5</c:f>
              <c:strCache>
                <c:ptCount val="4"/>
                <c:pt idx="0">
                  <c:v>Delivery %</c:v>
                </c:pt>
                <c:pt idx="1">
                  <c:v>Open %</c:v>
                </c:pt>
                <c:pt idx="2">
                  <c:v>CTR %</c:v>
                </c:pt>
                <c:pt idx="3">
                  <c:v>Conversion 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</c:v>
                </c:pt>
                <c:pt idx="1">
                  <c:v>31</c:v>
                </c:pt>
                <c:pt idx="2">
                  <c:v>5.4</c:v>
                </c:pt>
                <c:pt idx="3">
                  <c:v>15.8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%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Sheet1!$A$2:$A$4</c:f>
              <c:strCache>
                <c:ptCount val="3"/>
                <c:pt idx="0">
                  <c:v>New leads</c:v>
                </c:pt>
                <c:pt idx="1">
                  <c:v>Existing customers</c:v>
                </c:pt>
                <c:pt idx="2">
                  <c:v>Dormant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42</c:v>
                </c:pt>
                <c:pt idx="2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CTR %</c:v>
                </c:pt>
              </c:strCache>
            </c:strRef>
          </c:tx>
          <c:spPr>
            <a:solidFill>
              <a:srgbClr val="F0674A"/>
            </a:solidFill>
            <a:ln>
              <a:solidFill>
                <a:srgbClr val="F0674A"/>
              </a:solidFill>
            </a:ln>
          </c:spPr>
          <c:cat>
            <c:strRef>
              <c:f>Sheet1!$A$2:$A$4</c:f>
              <c:strCache>
                <c:ptCount val="3"/>
                <c:pt idx="0">
                  <c:v>New leads</c:v>
                </c:pt>
                <c:pt idx="1">
                  <c:v>Existing customers</c:v>
                </c:pt>
                <c:pt idx="2">
                  <c:v>Dormant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3.1</c:v>
                </c:pt>
                <c:pt idx="1">
                  <c:v>7.8</c:v>
                </c:pt>
                <c:pt idx="2">
                  <c:v>1.2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Sheet1!$A$2:$A$6</c:f>
              <c:strCache>
                <c:ptCount val="5"/>
                <c:pt idx="0">
                  <c:v>Relevance</c:v>
                </c:pt>
                <c:pt idx="1">
                  <c:v>Frequency</c:v>
                </c:pt>
                <c:pt idx="2">
                  <c:v>Clarity</c:v>
                </c:pt>
                <c:pt idx="3">
                  <c:v>Offer</c:v>
                </c:pt>
                <c:pt idx="4">
                  <c:v>Trust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</c:v>
                </c:pt>
                <c:pt idx="1">
                  <c:v>18</c:v>
                </c:pt>
                <c:pt idx="2">
                  <c:v>37</c:v>
                </c:pt>
                <c:pt idx="3">
                  <c:v>41</c:v>
                </c:pt>
                <c:pt idx="4">
                  <c:v>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0674A"/>
            </a:solidFill>
            <a:ln>
              <a:solidFill>
                <a:srgbClr val="F0674A"/>
              </a:solidFill>
            </a:ln>
          </c:spPr>
          <c:cat>
            <c:strRef>
              <c:f>Sheet1!$A$2:$A$6</c:f>
              <c:strCache>
                <c:ptCount val="5"/>
                <c:pt idx="0">
                  <c:v>Relevance</c:v>
                </c:pt>
                <c:pt idx="1">
                  <c:v>Frequency</c:v>
                </c:pt>
                <c:pt idx="2">
                  <c:v>Clarity</c:v>
                </c:pt>
                <c:pt idx="3">
                  <c:v>Offer</c:v>
                </c:pt>
                <c:pt idx="4">
                  <c:v>Trust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29</c:v>
                </c:pt>
                <c:pt idx="2">
                  <c:v>15</c:v>
                </c:pt>
                <c:pt idx="3">
                  <c:v>12</c:v>
                </c:pt>
                <c:pt idx="4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CTR %</c:v>
                </c:pt>
              </c:strCache>
            </c:strRef>
          </c:tx>
          <c:spPr>
            <a:solidFill>
              <a:srgbClr val="008F83"/>
            </a:solidFill>
            <a:ln>
              <a:solidFill>
                <a:srgbClr val="008F83"/>
              </a:solidFill>
            </a:ln>
          </c:spPr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5.1</c:v>
                </c:pt>
                <c:pt idx="1">
                  <c:v>5.3</c:v>
                </c:pt>
                <c:pt idx="2">
                  <c:v>5.4</c:v>
                </c:pt>
                <c:pt idx="3">
                  <c:v>4.6</c:v>
                </c:pt>
                <c:pt idx="4">
                  <c:v>3.8</c:v>
                </c:pt>
                <c:pt idx="5">
                  <c:v>3.2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%</c:v>
                </c:pt>
              </c:strCache>
            </c:strRef>
          </c:tx>
          <c:spPr>
            <a:solidFill>
              <a:srgbClr val="F0674A"/>
            </a:solidFill>
            <a:ln>
              <a:solidFill>
                <a:srgbClr val="F0674A"/>
              </a:solidFill>
            </a:ln>
          </c:spPr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</c:v>
                </c:pt>
                <c:pt idx="1">
                  <c:v>4.8</c:v>
                </c:pt>
                <c:pt idx="2">
                  <c:v>4.8</c:v>
                </c:pt>
                <c:pt idx="3">
                  <c:v>4.8</c:v>
                </c:pt>
                <c:pt idx="4">
                  <c:v>4.8</c:v>
                </c:pt>
                <c:pt idx="5">
                  <c:v>4.8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DE4E8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gentic-email-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658368" cy="658368"/>
          </a:xfrm>
          <a:prstGeom prst="rect">
            <a:avLst/>
          </a:prstGeom>
        </p:spPr>
      </p:pic>
      <p:pic>
        <p:nvPicPr>
          <p:cNvPr id="6" name="Picture 5" descr="n8n-course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502920"/>
            <a:ext cx="658368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1572768"/>
            <a:ext cx="530352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8F83"/>
                </a:solidFill>
                <a:latin typeface="Arial"/>
              </a:rPr>
              <a:t>WSQ COURSEWARE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394960" cy="187451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18232B"/>
                </a:solidFill>
                <a:latin typeface="Arial"/>
              </a:rPr>
              <a:t>Agentic AI for Email Marketing Campaign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41648"/>
            <a:ext cx="512064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5C56"/>
                </a:solidFill>
                <a:latin typeface="Arial"/>
              </a:rPr>
              <a:t>n8n · multi-agent editorial control · MailerLite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09160"/>
            <a:ext cx="5120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E6872"/>
                </a:solidFill>
                <a:latin typeface="Arial"/>
              </a:rPr>
              <a:t>WSQ Course Code: TGS-2026064473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E6872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05856"/>
            <a:ext cx="521208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8232B"/>
                </a:solidFill>
                <a:latin typeface="Arial"/>
              </a:rPr>
              <a:t>Version v1.1 · 24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63640"/>
            <a:ext cx="53035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transition spd="fast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Welcome and Learning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How the course runs, what evidence is required and where control boundaries 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</a:t>
            </a:r>
          </a:p>
        </p:txBody>
      </p:sp>
    </p:spTree>
  </p:cSld>
  <p:transition spd="med">
    <p:push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Scan the SSG QR code at the start of each training 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Complete the second attendance event after lunch.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Complete the separate assessment attendance event before the papers.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3246120" cy="42519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27632" y="2212848"/>
            <a:ext cx="1325880" cy="13258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2212848"/>
            <a:ext cx="132588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767328"/>
            <a:ext cx="27889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8232B"/>
                </a:solidFill>
                <a:latin typeface="Arial"/>
              </a:rPr>
              <a:t>Your 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52544"/>
            <a:ext cx="278892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E6872"/>
                </a:solidFill>
                <a:latin typeface="Arial"/>
              </a:rPr>
              <a:t>General trainer profile template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7830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783080"/>
            <a:ext cx="73152" cy="74980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8562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18562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18232B"/>
                </a:solidFill>
                <a:latin typeface="Arial"/>
              </a:rPr>
              <a:t>__________________________________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26974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2697480"/>
            <a:ext cx="73152" cy="74980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7706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0674A"/>
                </a:solidFill>
                <a:latin typeface="Arial"/>
              </a:rPr>
              <a:t>DESIGNATION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7706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18232B"/>
                </a:solidFill>
                <a:latin typeface="Arial"/>
              </a:rPr>
              <a:t>__________________________________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4528" y="36118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24528" y="3611880"/>
            <a:ext cx="73152" cy="74980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6850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EA900"/>
                </a:solidFill>
                <a:latin typeface="Arial"/>
              </a:rPr>
              <a:t>QUALIFICATIONS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6850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18232B"/>
                </a:solidFill>
                <a:latin typeface="Arial"/>
              </a:rPr>
              <a:t>__________________________________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4528" y="45262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4526280"/>
            <a:ext cx="73152" cy="74980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5994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354352"/>
                </a:solidFill>
                <a:latin typeface="Arial"/>
              </a:rPr>
              <a:t>EXPERTISE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8192" y="45994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18232B"/>
                </a:solidFill>
                <a:latin typeface="Arial"/>
              </a:rPr>
              <a:t>__________________________________</a:t>
            </a:r>
          </a:p>
        </p:txBody>
      </p:sp>
    </p:spTree>
  </p:cSld>
  <p:transition spd="fast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TRAINER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3246120" cy="42519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27632" y="2212848"/>
            <a:ext cx="1325880" cy="13258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27632" y="2212848"/>
            <a:ext cx="132588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767328"/>
            <a:ext cx="27889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18232B"/>
                </a:solidFill>
                <a:latin typeface="Arial"/>
              </a:rPr>
              <a:t>Dr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52544"/>
            <a:ext cx="278892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5E68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17830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24528" y="1783080"/>
            <a:ext cx="73152" cy="74980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8562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192" y="18562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18232B"/>
                </a:solidFill>
                <a:latin typeface="Arial"/>
              </a:rPr>
              <a:t>Principal trainer and courseware developer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26974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24528" y="2697480"/>
            <a:ext cx="73152" cy="74980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7706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F0674A"/>
                </a:solidFill>
                <a:latin typeface="Arial"/>
              </a:rPr>
              <a:t>EXPERTISE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7706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18232B"/>
                </a:solidFill>
                <a:latin typeface="Arial"/>
              </a:rPr>
              <a:t>Agentic AI, automation, cloud and secure workflow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4528" y="36118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24528" y="3611880"/>
            <a:ext cx="73152" cy="74980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6850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EEA900"/>
                </a:solidFill>
                <a:latin typeface="Arial"/>
              </a:rPr>
              <a:t>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6850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18232B"/>
                </a:solidFill>
                <a:latin typeface="Arial"/>
              </a:rPr>
              <a:t>Technical WSQ courses with evidence-led labs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24528" y="4526280"/>
            <a:ext cx="718718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24528" y="4526280"/>
            <a:ext cx="73152" cy="74980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599432"/>
            <a:ext cx="155448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354352"/>
                </a:solidFill>
                <a:latin typeface="Arial"/>
              </a:rPr>
              <a:t>CONTACT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8192" y="4599432"/>
            <a:ext cx="50292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20" b="0">
                <a:solidFill>
                  <a:srgbClr val="18232B"/>
                </a:solidFill>
                <a:latin typeface="Arial"/>
              </a:rPr>
              <a:t>enquiry@tertiaryinfotech.com</a:t>
            </a:r>
          </a:p>
        </p:txBody>
      </p:sp>
    </p:spTree>
  </p:cSld>
  <p:transition spd="fast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ICEBREAKER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Your role and the audience you communicate with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Current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Email platform, CRM or automation tools you use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One campaign process you want to improve safely</a:t>
            </a:r>
          </a:p>
        </p:txBody>
      </p:sp>
    </p:spTree>
  </p:cSld>
  <p:transition spd="fast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LEARNING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Participate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Ask, challenge and test claims with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Protect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Use sample leads; never expose credentials or customer PII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Respect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Do not schedule to a live audience without approval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Stay on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Return promptly from breaks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Work independently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Assessment evidence must be your own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Attendance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At least 75% attendance is required</a:t>
            </a:r>
          </a:p>
        </p:txBody>
      </p:sp>
    </p:spTree>
  </p:cSld>
  <p:transition spd="fast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VISUAL PORTAL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2523744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Sign in to lms-tms.tertiaryinfotech.com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82112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38144" y="2240280"/>
            <a:ext cx="2523744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79976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Open this course run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61888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7920" y="2240280"/>
            <a:ext cx="2523744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5975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975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Download slides, Learner Guide and lab package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41664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97696" y="2240280"/>
            <a:ext cx="2523744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39528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Keep materials available for the open-book assessment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transition spd="fast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SCHEDULE · 16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Two-Day Learning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Day 1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System model, consent and campaign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Day 1 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Multi-agent editorial workflow and quality gate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Day 2 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Human approval, MailerLite draft and schedule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Day 2 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Analytics dashboard, trend/feedback optimization and assessment</a:t>
            </a:r>
          </a:p>
        </p:txBody>
      </p:sp>
    </p:spTree>
  </p:cSld>
  <p:transition spd="fast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WSQ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TSC title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E-Commerce Campaign Management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TSC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TOU-SNM-3014-1.1-1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Course duration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2 days · 16 training hours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Assessment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WA 60 min + PP 60 min · open book</a:t>
            </a:r>
          </a:p>
        </p:txBody>
      </p:sp>
    </p:spTree>
  </p:cSld>
  <p:transition spd="fast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YOU WILL BE ABLE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Implement campaigns aligned to strategic objectives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Analyse outcomes using sales data and consumer insights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LO3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Analyse market trends and customer reviews</a:t>
            </a:r>
          </a:p>
        </p:txBody>
      </p:sp>
    </p:spTree>
  </p:cSld>
  <p:transition spd="fast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THREE ALIGNED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Topic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Consent, campaign brief, multi-agent drafting, approval and MailerLite scheduling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Topic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Event facts, KPI model, cohort/funnel dashboard and diagnosis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Topic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Trend windows, feedback evidence, decision rules and experiments</a:t>
            </a:r>
          </a:p>
        </p:txBody>
      </p:sp>
    </p:spTree>
  </p:cSld>
  <p:transition spd="fast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ASSESSMENT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Knowledge and Ability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K1-K2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Architecture, roles, audience and message contract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K3-K4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Consent, subscriber lifecycle, approval and scheduling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K5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Metrics, event model and dashboard interpretation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K6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Trend, feedback and continuous improvement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A1-A3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Build the lead, multi-agent and release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A4-A5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Build the dashboard and evidence-led optimization</a:t>
            </a:r>
          </a:p>
        </p:txBody>
      </p:sp>
    </p:spTree>
  </p:cSld>
  <p:transition spd="fast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Materials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Open book: slides, Learner Guide and approved files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Conduct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No discussion, photography or recording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Submission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Complete and upload on the LMS as instructed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All prescribed assessment requirements must be competent</a:t>
            </a:r>
          </a:p>
        </p:txBody>
      </p:sp>
    </p:spTree>
  </p:cSld>
  <p:transition spd="fast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OPEN-BOOK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Assessment Instruments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WA · 60 minutes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Six open-ended K-coded questions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Knowledge from the deck and LG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Answer every question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PP · 60 minutes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Five connected A-coded tasks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Evidence from the six labs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Build, verify and interpret</a:t>
            </a:r>
          </a:p>
        </p:txBody>
      </p:sp>
    </p:spTree>
  </p:cSld>
  <p:transition spd="fast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WA -&gt; PP -&gt;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TRAQOM survey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F06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Assessment digital attendance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F06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Sit WA then PP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F06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Upload completed answers on LMS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F06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transition spd="fast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OPTIONAL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Practice Knowledge Portal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Open exams.tertiaryinfotech.com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Use the portal search to find a relevant AI or automation practice set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This WSQ course is assessed by the WA and PP papers, not an external certification exam</a:t>
            </a:r>
          </a:p>
        </p:txBody>
      </p:sp>
    </p:spTree>
  </p:cSld>
  <p:transition spd="fast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TECHNICAL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The Controlled Campaign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Architecture, state, autonomy, evidence and failure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19</a:t>
            </a:r>
          </a:p>
        </p:txBody>
      </p:sp>
    </p:spTree>
  </p:cSld>
  <p:transition spd="med">
    <p:push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SYSTEM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The Closed-Loop Campaign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Consent and brief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Specialist agents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Human approval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MailerLite delivery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Events and optimization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transition spd="fast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DECISION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Automation, AI Workflow and Agentic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Deterministic automation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Fixed path and rules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Predictable transforms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Best for validation and writes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Agentic layer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Chooses among bounded tools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Handles ambiguous content work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Must not own irreversible sends</a:t>
            </a:r>
          </a:p>
        </p:txBody>
      </p:sp>
    </p:spTree>
  </p:cSld>
  <p:transition spd="fast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STATE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Campaign State Is a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campaign_id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stable correlation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draft | review | approved | scheduled | sent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monotonic content version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approval_hash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binds decision to exact payload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scheduled_at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ISO timestamp plus timezone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evidence_uri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audit and assessment artifact</a:t>
            </a:r>
          </a:p>
        </p:txBody>
      </p:sp>
    </p:spTree>
  </p:cSld>
  <p:transition spd="fast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Autonomy Boundary for Email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23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FF1ED"/>
          </a:solidFill>
          <a:ln w="25400">
            <a:solidFill>
              <a:srgbClr val="F06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Can the action change an external audience or irreversible state?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8A59"/>
                </a:solidFill>
                <a:latin typeface="Arial"/>
              </a:rPr>
              <a:t>YES · </a:t>
            </a:r>
            <a:r>
              <a:rPr sz="1350" b="0">
                <a:solidFill>
                  <a:srgbClr val="18232B"/>
                </a:solidFill>
                <a:latin typeface="Arial"/>
              </a:rPr>
              <a:t>Require human review, payload preview, identity and expiry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73D37"/>
                </a:solidFill>
                <a:latin typeface="Arial"/>
              </a:rPr>
              <a:t>NO · </a:t>
            </a:r>
            <a:r>
              <a:rPr sz="1350" b="0">
                <a:solidFill>
                  <a:srgbClr val="18232B"/>
                </a:solidFill>
                <a:latin typeface="Arial"/>
              </a:rPr>
              <a:t>Allow bounded autonomous analysis with logging and limits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20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C73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fast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WORKED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From Objective to Testable Campaign 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Target conversions = eligible subscribers x delivery rate x click rate x conversion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8,000 x 0.98 x 0.035 x 0.12 = 32.9 expected conversions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A stronger subject line cannot repair a weak landing-page conversion rate.</a:t>
            </a:r>
          </a:p>
        </p:txBody>
      </p:sp>
    </p:spTree>
  </p:cSld>
  <p:transition spd="fast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Three Data Planes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Control plane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brief, policy, approvals, schedule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Content plane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research, copy, HTML and variants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plane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events, metrics, logs and decisions</a:t>
            </a:r>
          </a:p>
        </p:txBody>
      </p:sp>
    </p:spTree>
  </p:cSld>
  <p:transition spd="fast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Minimum Audit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workflow_execution_id and campaign_id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input brief version and source hashes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agent outputs plus validation results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reviewer decision, time, payload hash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MailerLite response ID and final scheduled time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error path, retry count and recovery action</a:t>
            </a:r>
          </a:p>
        </p:txBody>
      </p:sp>
    </p:spTree>
  </p:cSld>
  <p:transition spd="fast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FAILURE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Failure Taxonomy Before the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27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Content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hallucinated claim, tone drift, broken link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Audience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wrong group, stale consent, duplicate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Delivery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unverified sender, missing unsubscribe, timezone error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Measurement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open-rate bias, bot clicks, attribution gap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Operations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retry duplicates, leaked credential, unreviewed payload</a:t>
            </a:r>
          </a:p>
        </p:txBody>
      </p:sp>
    </p:spTree>
  </p:cSld>
  <p:transition spd="fast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Implementing Agentic AI Email Marketing Campaigns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Consent -&gt; brief -&gt; specialist agents -&gt; approval -&gt; MailerLite schedule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28</a:t>
            </a:r>
          </a:p>
        </p:txBody>
      </p:sp>
    </p:spTree>
  </p:cSld>
  <p:transition spd="med">
    <p:push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LO1 | K1-K4 | A1-A3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Topic 01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Mechanism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Translate strategy into a machine-readable campaign brief and acceptance contract.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Mechanism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Separate audience, research, drafting and compliance roles across agent boundaries.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Mechanism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Gate every external send or schedule action with deterministic human approval.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Mechanism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Treat consent, unsubscribe state, secrets and audit evidence as first-class data.</a:t>
            </a:r>
          </a:p>
        </p:txBody>
      </p:sp>
    </p:spTree>
  </p:cSld>
  <p:transition spd="fast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MULTI-AGENT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Specialists Propose; the Editor Decides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30</a:t>
            </a:r>
          </a:p>
        </p:txBody>
      </p:sp>
      <p:pic>
        <p:nvPicPr>
          <p:cNvPr id="10" name="Picture 9" descr="multi-agent-editorial-control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8001000" cy="44439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87968" y="1783080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87968" y="1783080"/>
            <a:ext cx="64008" cy="758952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856232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008F83"/>
                </a:solidFill>
                <a:latin typeface="Arial"/>
              </a:rPr>
              <a:t>Audience agent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segment and job-to-be-done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2633472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87968" y="2633472"/>
            <a:ext cx="64008" cy="758952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706624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F0674A"/>
                </a:solidFill>
                <a:latin typeface="Arial"/>
              </a:rPr>
              <a:t>Research agent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evidence and claims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3483864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87968" y="3483864"/>
            <a:ext cx="64008" cy="758952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3557016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EEA900"/>
                </a:solidFill>
                <a:latin typeface="Arial"/>
              </a:rPr>
              <a:t>Copy agent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subject, preheader and body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4334256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7968" y="4334256"/>
            <a:ext cx="64008" cy="758952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4407408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54352"/>
                </a:solidFill>
                <a:latin typeface="Arial"/>
              </a:rPr>
              <a:t>Compliance critic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policy and risk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5184648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5184648"/>
            <a:ext cx="64008" cy="758952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9136" y="5257800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008F83"/>
                </a:solidFill>
                <a:latin typeface="Arial"/>
              </a:rPr>
              <a:t>Human editor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approve exact version</a:t>
            </a:r>
          </a:p>
        </p:txBody>
      </p:sp>
    </p:spTree>
  </p:cSld>
  <p:transition spd="fast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N8N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Lead Capture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Form Trigger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Normalize fields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Validate consent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Upsert subscriber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Record response and 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transition spd="fast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CONCRETE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Consent Record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normalized RFC-valid address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explicit boolean; never inferred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consent_text_version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copy shown at submission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opted_in_at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UTC timestamp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optin_ip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where lawful and required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form or campaign attribution</a:t>
            </a:r>
          </a:p>
        </p:txBody>
      </p:sp>
    </p:spTree>
  </p:cSld>
  <p:transition spd="fast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54352"/>
                </a:solidFill>
                <a:latin typeface="Arial"/>
              </a:rPr>
              <a:t>HTTP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MailerLite Subscriber Upsert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863072" cy="3456432"/>
          </a:xfrm>
          <a:prstGeom prst="roundRect">
            <a:avLst/>
          </a:prstGeom>
          <a:solidFill>
            <a:srgbClr val="0D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103327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EA900"/>
                </a:solidFill>
                <a:latin typeface="Arial"/>
              </a:rPr>
              <a:t>HTTP +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40864"/>
            <a:ext cx="10241280" cy="2788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420" b="0">
                <a:solidFill>
                  <a:srgbClr val="D9E7EC"/>
                </a:solidFill>
                <a:latin typeface="Arial"/>
              </a:rPr>
              <a:t>POST /api/subscribers</a:t>
            </a:r>
          </a:p>
          <a:p>
            <a:pPr algn="l">
              <a:spcAft>
                <a:spcPts val="100"/>
              </a:spcAft>
            </a:pPr>
            <a:r>
              <a:rPr sz="1420" b="0">
                <a:solidFill>
                  <a:srgbClr val="D9E7EC"/>
                </a:solidFill>
                <a:latin typeface="Arial"/>
              </a:rPr>
              <a:t>Authorization: Bearer {{$credentials.apiKey}}</a:t>
            </a:r>
          </a:p>
          <a:p>
            <a:pPr algn="l">
              <a:spcAft>
                <a:spcPts val="100"/>
              </a:spcAft>
            </a:pPr>
            <a:r>
              <a:rPr sz="1420" b="0">
                <a:solidFill>
                  <a:srgbClr val="D9E7EC"/>
                </a:solidFill>
                <a:latin typeface="Arial"/>
              </a:rPr>
              <a:t>Content-Type: application/json</a:t>
            </a:r>
          </a:p>
          <a:p>
            <a:pPr algn="l">
              <a:spcAft>
                <a:spcPts val="100"/>
              </a:spcAft>
            </a:pPr>
            <a:r>
              <a:rPr sz="1420" b="0">
                <a:solidFill>
                  <a:srgbClr val="D9E7EC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420" b="0">
                <a:solidFill>
                  <a:srgbClr val="D9E7EC"/>
                </a:solidFill>
                <a:latin typeface="Arial"/>
              </a:rPr>
              <a:t>{"email":"{{$json.email}}","fields":{"name":"{{$json.name}}"},"groups":["{{$json.group_id}}"],"opted_in_at":"{{$json.opted_in_at}}"}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440680"/>
            <a:ext cx="10863072" cy="65836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2870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08F83"/>
                </a:solidFill>
                <a:latin typeface="Arial"/>
              </a:rPr>
              <a:t>WHAT TO VERIFY  </a:t>
            </a:r>
            <a:r>
              <a:rPr sz="1350" b="0">
                <a:solidFill>
                  <a:srgbClr val="18232B"/>
                </a:solidFill>
                <a:latin typeface="Arial"/>
              </a:rPr>
              <a:t>201 means created; 200 means the existing subscriber was updated non-destructively.</a:t>
            </a:r>
          </a:p>
        </p:txBody>
      </p:sp>
    </p:spTree>
  </p:cSld>
  <p:transition spd="fast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SUBSCRIBER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Upsert Is Not Resubscribe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Safe upsert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Adds or updates allowed fields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Does not remove omitted groups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Preserves status by default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High-risk resubscribe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Must respect prior unsubscribe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Requires an authorised consent route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Never set true by an agent guess</a:t>
            </a:r>
          </a:p>
        </p:txBody>
      </p:sp>
    </p:spTree>
  </p:cSld>
  <p:transition spd="fast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CONTEXT 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Campaign Brief Becomes Agent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Objective and offer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Audience and exclusions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Brand voice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Evidence sources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Output schema and 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transition spd="fast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STRUCTURED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Newsletter Output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subject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&lt;= 60 characters, no unsupported claim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preheader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complements subject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valid semantic email HTML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plain-text alternative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one primary action and tracked URL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citations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source IDs for factual claims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" y="4855464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4944" y="4855464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4974336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risk_flags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15184" y="4965192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empty only after critic pass</a:t>
            </a:r>
          </a:p>
        </p:txBody>
      </p:sp>
    </p:spTree>
  </p:cSld>
  <p:transition spd="fast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AGENT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Multi-Agent Editorial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Strategist plans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Researcher grounds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Copywriter drafts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Critic scores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Refiner revises or escalates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transition spd="fast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ORCHESTRATION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Parallel Specialists vs Sequential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Parallel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Faster independent viewpoints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Requires merge contract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Good for research and audience options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Sequential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Each stage sees prior artifact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Simpler provenance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Good for draft -&gt; critic -&gt; revision</a:t>
            </a:r>
          </a:p>
        </p:txBody>
      </p:sp>
    </p:spTree>
  </p:cSld>
  <p:transition spd="fast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Quality Gate as a Deterministic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Gate = min(brand, evidence, compliance, actionability)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Scores 92, 88, 74, 90 -&gt; Gate 74 -&gt; REVISE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The weakest mandatory dimension controls release; averages can hide a compliance failure.</a:t>
            </a:r>
          </a:p>
        </p:txBody>
      </p:sp>
    </p:spTree>
  </p:cSld>
  <p:transition spd="fast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HUMAN-IN-THE-LOOP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Reviewer Decision Payload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approve | reject | revise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reviewer_id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authenticated reviewer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payload_hash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hash of exact draft and schedule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expires_at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approval time-to-live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required on reject or revise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version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must match pending draft</a:t>
            </a:r>
          </a:p>
        </p:txBody>
      </p:sp>
    </p:spTree>
  </p:cSld>
  <p:transition spd="fast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TOCTOU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Approval Must Bind to the Exact Payload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41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FF1ED"/>
          </a:solidFill>
          <a:ln w="25400">
            <a:solidFill>
              <a:srgbClr val="F06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Does the approved hash equal the payload about to be scheduled?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8A59"/>
                </a:solidFill>
                <a:latin typeface="Arial"/>
              </a:rPr>
              <a:t>YES · </a:t>
            </a:r>
            <a:r>
              <a:rPr sz="1350" b="0">
                <a:solidFill>
                  <a:srgbClr val="18232B"/>
                </a:solidFill>
                <a:latin typeface="Arial"/>
              </a:rPr>
              <a:t>Create or update the MailerLite draft, then schedule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73D37"/>
                </a:solidFill>
                <a:latin typeface="Arial"/>
              </a:rPr>
              <a:t>NO · </a:t>
            </a:r>
            <a:r>
              <a:rPr sz="1350" b="0">
                <a:solidFill>
                  <a:srgbClr val="18232B"/>
                </a:solidFill>
                <a:latin typeface="Arial"/>
              </a:rPr>
              <a:t>Block the write and return to review with a new version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20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C73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fast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54352"/>
                </a:solidFill>
                <a:latin typeface="Arial"/>
              </a:rPr>
              <a:t>HTTP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Create a MailerLite Campaign Draft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863072" cy="3456432"/>
          </a:xfrm>
          <a:prstGeom prst="roundRect">
            <a:avLst/>
          </a:prstGeom>
          <a:solidFill>
            <a:srgbClr val="0D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103327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EA900"/>
                </a:solidFill>
                <a:latin typeface="Arial"/>
              </a:rPr>
              <a:t>HTTP +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40864"/>
            <a:ext cx="10241280" cy="2788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420" b="0">
                <a:solidFill>
                  <a:srgbClr val="D9E7EC"/>
                </a:solidFill>
                <a:latin typeface="Arial"/>
              </a:rPr>
              <a:t>POST /api/campaigns</a:t>
            </a:r>
          </a:p>
          <a:p>
            <a:pPr algn="l">
              <a:spcAft>
                <a:spcPts val="100"/>
              </a:spcAft>
            </a:pPr>
            <a:r>
              <a:rPr sz="1420" b="0">
                <a:solidFill>
                  <a:srgbClr val="D9E7EC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420" b="0">
                <a:solidFill>
                  <a:srgbClr val="D9E7EC"/>
                </a:solidFill>
                <a:latin typeface="Arial"/>
              </a:rPr>
              <a:t>{"name":"{{$json.campaign_name}}","type":"regular","emails":[{"subject":"{{$json.subject}}","from_name":"{{$json.from_name}}","from":"{{$json.verified_sender}}","content":"{{$json.html}}"}],"groups":["{{$json.group_id}}"]}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440680"/>
            <a:ext cx="10863072" cy="65836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2870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08F83"/>
                </a:solidFill>
                <a:latin typeface="Arial"/>
              </a:rPr>
              <a:t>WHAT TO VERIFY  </a:t>
            </a:r>
            <a:r>
              <a:rPr sz="1350" b="0">
                <a:solidFill>
                  <a:srgbClr val="18232B"/>
                </a:solidFill>
                <a:latin typeface="Arial"/>
              </a:rPr>
              <a:t>The sender must already be verified. Advanced-plan rules may apply to HTML content.</a:t>
            </a:r>
          </a:p>
        </p:txBody>
      </p:sp>
    </p:spTree>
  </p:cSld>
  <p:transition spd="fast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54352"/>
                </a:solidFill>
                <a:latin typeface="Arial"/>
              </a:rPr>
              <a:t>HTTP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Schedule Only After Approval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863072" cy="3456432"/>
          </a:xfrm>
          <a:prstGeom prst="roundRect">
            <a:avLst/>
          </a:prstGeom>
          <a:solidFill>
            <a:srgbClr val="0D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103327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EA900"/>
                </a:solidFill>
                <a:latin typeface="Arial"/>
              </a:rPr>
              <a:t>HTTP +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40864"/>
            <a:ext cx="10241280" cy="2788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420" b="0">
                <a:solidFill>
                  <a:srgbClr val="D9E7EC"/>
                </a:solidFill>
                <a:latin typeface="Arial"/>
              </a:rPr>
              <a:t>POST /api/campaigns/{{$json.campaign_id}}/schedule</a:t>
            </a:r>
          </a:p>
          <a:p>
            <a:pPr algn="l">
              <a:spcAft>
                <a:spcPts val="100"/>
              </a:spcAft>
            </a:pPr>
            <a:r>
              <a:rPr sz="1420" b="0">
                <a:solidFill>
                  <a:srgbClr val="D9E7EC"/>
                </a:solidFill>
                <a:latin typeface="Arial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420" b="0">
                <a:solidFill>
                  <a:srgbClr val="D9E7EC"/>
                </a:solidFill>
                <a:latin typeface="Arial"/>
              </a:rPr>
              <a:t>{"delivery":"scheduled","schedule":{"date":"2026-09-15","hours":"10","minutes":"00","timezone_id":{{$json.timezone_id}}}}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440680"/>
            <a:ext cx="10863072" cy="65836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2870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08F83"/>
                </a:solidFill>
                <a:latin typeface="Arial"/>
              </a:rPr>
              <a:t>WHAT TO VERIFY  </a:t>
            </a:r>
            <a:r>
              <a:rPr sz="1350" b="0">
                <a:solidFill>
                  <a:srgbClr val="18232B"/>
                </a:solidFill>
                <a:latin typeface="Arial"/>
              </a:rPr>
              <a:t>Use a future date and preserve timezone explicitly. Store the returned campaign ID.</a:t>
            </a:r>
          </a:p>
        </p:txBody>
      </p:sp>
    </p:spTree>
  </p:cSld>
  <p:transition spd="fast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Idempotent Schedule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Lookup campaign_id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Check current status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Compare approved version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Write once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Persist response before retry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transition spd="fast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Campaign-Write Failure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45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401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credential or scope invalid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422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invalid sender, audience, content or schedule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429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rate limit; back off and retry safely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5xx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retry only with idempotency evidence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ready/sent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do not update as if still draft</a:t>
            </a:r>
          </a:p>
        </p:txBody>
      </p:sp>
    </p:spTree>
  </p:cSld>
  <p:transition spd="fast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ASSESSMENT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LO1 Evidence Bundle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lead-form test submission with explicit consent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MailerLite 200/201 subscriber response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multi-agent draft with critic score and revision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review payload showing decision and hash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MailerLite campaign ID and scheduled time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n8n execution log with no secret values</a:t>
            </a:r>
          </a:p>
        </p:txBody>
      </p:sp>
    </p:spTree>
  </p:cSld>
  <p:transition spd="fast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Consent-First Lead Capture to MailerLite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LO1 | K3 | A1 · 75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47</a:t>
            </a:r>
          </a:p>
        </p:txBody>
      </p:sp>
    </p:spTree>
  </p:cSld>
  <p:transition spd="med">
    <p:push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1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Build an n8n form workflow that validates explicit consent, normalises a lead, upserts the subscriber into a MailerLite group and preserves audit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 production-shaped lead form, MailerLite upsert, rejection path and evidence record.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n8n Form Trigger, Code, IF, HTTP Request, MailerLite API</a:t>
            </a:r>
          </a:p>
        </p:txBody>
      </p:sp>
    </p:spTree>
  </p:cSld>
  <p:transition spd="fast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1 Runtime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Form Trigger produces a structured submission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Code normalises and validates fields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IF blocks absent consent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HTTP Request upserts the subscriber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Evidence node stores safe response fields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transition spd="fast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1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email is trimmed and lowercased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consent must equal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consent_text_version is recorded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group_id is configuration, not model output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API token remains in an n8n credential</a:t>
            </a:r>
          </a:p>
        </p:txBody>
      </p:sp>
    </p:spTree>
  </p:cSld>
  <p:transition spd="fast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1 Evidence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test submission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normalised payload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MailerLite subscriber ID and status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n8n execution ID</a:t>
            </a:r>
          </a:p>
        </p:txBody>
      </p:sp>
    </p:spTree>
  </p:cSld>
  <p:transition spd="fast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1 Verification and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valid consent reaches MailerLite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missing consent never calls MailerLite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subscriber ID/status captured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521208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credential value absent from exports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Diagnose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invalid email returns a controlled form response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unsubscribed status is never silently overridden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200 and 201 are both accepted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429 follows bounded exponential backoff</a:t>
            </a:r>
          </a:p>
        </p:txBody>
      </p:sp>
    </p:spTree>
  </p:cSld>
  <p:transition spd="fast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Campaign Brief and Audience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LO1 | K1-K2 · 60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53</a:t>
            </a:r>
          </a:p>
        </p:txBody>
      </p:sp>
    </p:spTree>
  </p:cSld>
  <p:transition spd="med">
    <p:push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2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Turn a marketing objective into a validated campaign brief that every specialist agent consumes consistently.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 campaign-brief intake form, JSON schema validator and audience/message contract.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n8n Form Trigger, Edit Fields, Code, Structured Output</a:t>
            </a:r>
          </a:p>
        </p:txBody>
      </p:sp>
    </p:spTree>
  </p:cSld>
  <p:transition spd="fast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2 Runtime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2523744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Brief intake captures objective and constraints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82112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38144" y="2240280"/>
            <a:ext cx="2523744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79976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Validator enforces required fields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61888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7920" y="2240280"/>
            <a:ext cx="2523744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5975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5975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Audience contract defines inclusion and exclusion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41664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97696" y="2240280"/>
            <a:ext cx="2523744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39528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3410712"/>
            <a:ext cx="2304288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Versioned brief becomes agent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transition spd="fast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2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one primary objective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one primary CTA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eligible group and exclusions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brand voice and prohibited claims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evidence source IDs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schedule and timezone</a:t>
            </a:r>
          </a:p>
        </p:txBody>
      </p:sp>
    </p:spTree>
  </p:cSld>
  <p:transition spd="fast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2 Evidence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campaign-brief.json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validator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audience inclusion/exclusion table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brief version hash</a:t>
            </a:r>
          </a:p>
        </p:txBody>
      </p:sp>
    </p:spTree>
  </p:cSld>
  <p:transition spd="fast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2 Verification and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all required fields pass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exclusions present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one CTA only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521208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brief version and hash generated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Diagnose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ambiguous objectives fail validation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missing exclusions stop the pipeline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unversioned edits create a new brief version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PII is not inserted into prompts</a:t>
            </a:r>
          </a:p>
        </p:txBody>
      </p:sp>
    </p:spTree>
  </p:cSld>
  <p:transition spd="fast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Multi-Agent Newsletter Editorial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LO1 | K1-K2 | A2 · 120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59</a:t>
            </a:r>
          </a:p>
        </p:txBody>
      </p:sp>
    </p:spTree>
  </p:cSld>
  <p:transition spd="med">
    <p:push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3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Coordinate strategist, researcher, copywriter, critic and refiner agents through explicit schemas and a bounded revision loop.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An importable multi-agent n8n workflow that produces a grounded newsletter draft with quality scores and provenance.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n8n AI Agent, OpenAI Chat Model, Structured Output Parser, Loop Over Items, Code</a:t>
            </a:r>
          </a:p>
        </p:txBody>
      </p:sp>
    </p:spTree>
  </p:cSld>
  <p:transition spd="fast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3 Runtime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Strategist produces the content plan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Researcher maps claims to source IDs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Copywriter emits structured content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Critic scores mandatory dimensions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Refiner loops until threshold or escalation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transition spd="fast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3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structured JSON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maximum two revisions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every factual claim carries a source 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critic minimum score 80 on every dimension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no external send tool attached</a:t>
            </a:r>
          </a:p>
        </p:txBody>
      </p:sp>
    </p:spTree>
  </p:cSld>
  <p:transition spd="fast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3 Evidence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agent outputs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critic scorecard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revision count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final content JSON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execution graph</a:t>
            </a:r>
          </a:p>
        </p:txBody>
      </p:sp>
    </p:spTree>
  </p:cSld>
  <p:transition spd="fast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3 Verification and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five distinct roles visible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source IDs preserved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schema valid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bounded revision loop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no send/schedule 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parser errors route to repair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missing source IDs force revision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loop limit escalates to human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agent outputs never overwrite raw brief</a:t>
            </a:r>
          </a:p>
        </p:txBody>
      </p:sp>
    </p:spTree>
  </p:cSld>
  <p:transition spd="fast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Human Approval and MailerLite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LO1 | K4 | A3 · 105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65</a:t>
            </a:r>
          </a:p>
        </p:txBody>
      </p:sp>
    </p:spTree>
  </p:cSld>
  <p:transition spd="med">
    <p:push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4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Bind a human decision to the exact newsletter payload, create a MailerLite draft and schedule only the approved version.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 human-review gate, payload hash check, MailerLite draft creation and schedule transaction with release evidence.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n8n Manual Trigger, Gmail Send and Wait, IF, Code, HTTP Request</a:t>
            </a:r>
          </a:p>
        </p:txBody>
      </p:sp>
    </p:spTree>
  </p:cSld>
  <p:transition spd="fast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4 Runtime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Draft payload is canonicalised and hashed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Gmail Send and Wait presents subject, audience, CTA and schedule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Reviewer approves or rejects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Hash and approval expiry are rechecked immediately before release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MailerLite draft and schedule APIs run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transition spd="fast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4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authenticated reviewer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approval expiry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payload hash equality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verified sender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group ID allow-list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future schedule with timezone</a:t>
            </a:r>
          </a:p>
        </p:txBody>
      </p:sp>
    </p:spTree>
  </p:cSld>
  <p:transition spd="fast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4 Evidence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review request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decision payload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hash comparison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MailerLite campaign ID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scheduled timestamp</a:t>
            </a:r>
          </a:p>
        </p:txBody>
      </p:sp>
    </p:spTree>
  </p:cSld>
  <p:transition spd="fast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4 Verification and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reject path makes no write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hash mismatch blocks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approved draft created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campaign scheduled once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evidence contains reviewer and campaign 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hash mismatch blocks write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expired approval blocks release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rejection records the decision without an external write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422 exposes safe validation detail</a:t>
            </a:r>
          </a:p>
        </p:txBody>
      </p:sp>
    </p:spTree>
  </p:cSld>
  <p:transition spd="fast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AI-Driven Campaign Performance and Consumer Insights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MailerLite events -&gt; normalised facts -&gt; KPI model -&gt; diagnostic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71</a:t>
            </a:r>
          </a:p>
        </p:txBody>
      </p:sp>
    </p:spTree>
  </p:cSld>
  <p:transition spd="med">
    <p:push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LO2 | K5 |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Topic 02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Mechanism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Model campaign, delivery and subscriber events at the correct grain.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Mechanism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Distinguish delivery, engagement and business outcomes in a metric tree.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Mechanism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Use cohort and funnel views to diagnose where performance is lost.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Mechanism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State limitations of open tracking, attribution and small samples.</a:t>
            </a:r>
          </a:p>
        </p:txBody>
      </p:sp>
    </p:spTree>
  </p:cSld>
  <p:transition spd="fast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CLOSED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Acquisition, Delivery, Measurement,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73</a:t>
            </a:r>
          </a:p>
        </p:txBody>
      </p:sp>
      <p:pic>
        <p:nvPicPr>
          <p:cNvPr id="10" name="Picture 9" descr="lead-analytics-loop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5648"/>
            <a:ext cx="8001000" cy="444398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887968" y="1783080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87968" y="1783080"/>
            <a:ext cx="64008" cy="758952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89136" y="1856232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008F83"/>
                </a:solidFill>
                <a:latin typeface="Arial"/>
              </a:rPr>
              <a:t>Acquire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explicit consent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7968" y="2633472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87968" y="2633472"/>
            <a:ext cx="64008" cy="758952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89136" y="2706624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F0674A"/>
                </a:solidFill>
                <a:latin typeface="Arial"/>
              </a:rPr>
              <a:t>Deliver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approved campaign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7968" y="3483864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87968" y="3483864"/>
            <a:ext cx="64008" cy="758952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9136" y="3557016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EEA900"/>
                </a:solidFill>
                <a:latin typeface="Arial"/>
              </a:rPr>
              <a:t>Measure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event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87968" y="4334256"/>
            <a:ext cx="2523744" cy="758952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7968" y="4334256"/>
            <a:ext cx="64008" cy="758952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4407408"/>
            <a:ext cx="210312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354352"/>
                </a:solidFill>
                <a:latin typeface="Arial"/>
              </a:rPr>
              <a:t>Optimize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8232B"/>
                </a:solidFill>
                <a:latin typeface="Arial"/>
              </a:rPr>
              <a:t>controlled recommendation</a:t>
            </a:r>
          </a:p>
        </p:txBody>
      </p:sp>
    </p:spTree>
  </p:cSld>
  <p:transition spd="fast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N8N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Analytics Ingestion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MailerLite webhook or poll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Verify and deduplicate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Normalize event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Aggregate metrics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Render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transition spd="fast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DATA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Campaign Event Fact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event_id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deduplication key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event_type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sent | open | click | unsubscribe | bounce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occurred_at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event timestamp UTC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campaign_id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delivery identity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subscriber_id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pseudonymous analysis key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link_id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nullable click target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" y="4855464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4944" y="4855464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4974336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source_payload_hash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15184" y="4965192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lineage without exposing PII</a:t>
            </a:r>
          </a:p>
        </p:txBody>
      </p:sp>
    </p:spTree>
  </p:cSld>
  <p:transition spd="fast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354352"/>
                </a:solidFill>
                <a:latin typeface="Arial"/>
              </a:rPr>
              <a:t>SECURITY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Verify MailerLite Webhook Signature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55648"/>
            <a:ext cx="10863072" cy="3456432"/>
          </a:xfrm>
          <a:prstGeom prst="roundRect">
            <a:avLst/>
          </a:prstGeom>
          <a:solidFill>
            <a:srgbClr val="0D1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103327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EEA900"/>
                </a:solidFill>
                <a:latin typeface="Arial"/>
              </a:rPr>
              <a:t>JAVASCRIPT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40864"/>
            <a:ext cx="10241280" cy="2788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420" b="0">
                <a:solidFill>
                  <a:srgbClr val="D9E7EC"/>
                </a:solidFill>
                <a:latin typeface="Arial"/>
              </a:rPr>
              <a:t>const expected = hmacSha256(rawBody, webhookSecret);</a:t>
            </a:r>
          </a:p>
          <a:p>
            <a:pPr algn="l">
              <a:spcAft>
                <a:spcPts val="100"/>
              </a:spcAft>
            </a:pPr>
            <a:r>
              <a:rPr sz="1420" b="0">
                <a:solidFill>
                  <a:srgbClr val="D9E7EC"/>
                </a:solidFill>
                <a:latin typeface="Arial"/>
              </a:rPr>
              <a:t>if (!timingSafeEqual(signature, expected)) throw new Error('invalid signature');</a:t>
            </a:r>
          </a:p>
          <a:p>
            <a:pPr algn="l">
              <a:spcAft>
                <a:spcPts val="100"/>
              </a:spcAft>
            </a:pPr>
            <a:r>
              <a:rPr sz="1420" b="0">
                <a:solidFill>
                  <a:srgbClr val="D9E7EC"/>
                </a:solidFill>
                <a:latin typeface="Arial"/>
              </a:rPr>
              <a:t>return { eventId, eventType, occurredAt, campaignId };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440680"/>
            <a:ext cx="10863072" cy="65836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28700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008F83"/>
                </a:solidFill>
                <a:latin typeface="Arial"/>
              </a:rPr>
              <a:t>WHAT TO VERIFY  </a:t>
            </a:r>
            <a:r>
              <a:rPr sz="1350" b="0">
                <a:solidFill>
                  <a:srgbClr val="18232B"/>
                </a:solidFill>
                <a:latin typeface="Arial"/>
              </a:rPr>
              <a:t>MailerLite signs webhook payloads with HMAC-SHA256. A valid 2xx response should be returned quickly.</a:t>
            </a:r>
          </a:p>
        </p:txBody>
      </p:sp>
    </p:spTree>
  </p:cSld>
  <p:transition spd="fast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METRIC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Email KPI Definitions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Delivery rate = delivered / sent; CTR = unique clicks / delivered; CTOR = unique clicks / unique opens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9,600 delivered; 2,400 opens; 420 clicks -&gt; CTR 4.38%, CTOR 17.5%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Label the denominator on every chart; similarly named metrics can answer different questions.</a:t>
            </a:r>
          </a:p>
        </p:txBody>
      </p:sp>
    </p:spTree>
  </p:cSld>
  <p:transition spd="fast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Funnel Reveals Where Value Is Lost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The sharpest proportional drop is click-to-conversion, not delivery.</a:t>
            </a:r>
          </a:p>
        </p:txBody>
      </p:sp>
    </p:spTree>
  </p:cSld>
  <p:transition spd="fast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Target vs Actual Campaign KPIs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79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Delivery and opens miss target; downstream engagement exceeds target.</a:t>
            </a:r>
          </a:p>
        </p:txBody>
      </p:sp>
    </p:spTree>
  </p:cSld>
  <p:transition spd="fast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Cohort View Separates Audience Effects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The aggregate hides a weak dormant cohort and a strong customer cohort.</a:t>
            </a:r>
          </a:p>
        </p:txBody>
      </p:sp>
    </p:spTree>
  </p:cSld>
  <p:transition spd="fast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INGESTION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Webhook vs Scheduled Poll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Webhook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Near real-time events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Requires HMAC verification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Handle retries and duplicates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Scheduled poll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Simpler recovery and backfill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Higher latency and API use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Use cursors and watermarks</a:t>
            </a:r>
          </a:p>
        </p:txBody>
      </p:sp>
    </p:spTree>
  </p:cSld>
  <p:transition spd="fast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DIAGNOSTIC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When Is an Alert Actionable?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82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FF1ED"/>
          </a:solidFill>
          <a:ln w="25400">
            <a:solidFill>
              <a:srgbClr val="F06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Is the deviation material, sustained and based on enough observations?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8A59"/>
                </a:solidFill>
                <a:latin typeface="Arial"/>
              </a:rPr>
              <a:t>YES · </a:t>
            </a:r>
            <a:r>
              <a:rPr sz="1350" b="0">
                <a:solidFill>
                  <a:srgbClr val="18232B"/>
                </a:solidFill>
                <a:latin typeface="Arial"/>
              </a:rPr>
              <a:t>Open a diagnostic case with cohort and funnel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73D37"/>
                </a:solidFill>
                <a:latin typeface="Arial"/>
              </a:rPr>
              <a:t>NO · </a:t>
            </a:r>
            <a:r>
              <a:rPr sz="1350" b="0">
                <a:solidFill>
                  <a:srgbClr val="18232B"/>
                </a:solidFill>
                <a:latin typeface="Arial"/>
              </a:rPr>
              <a:t>Keep monitoring; do not let an agent overreact to noise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20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C73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fast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INTERPRETATION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Measurement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83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Open tracking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privacy proxies and blocked pixels distort counts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Click activity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security scanners can create bot clicks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Attribution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last-click can ignore assisted conversions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Small cohorts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rates swing with few observations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Survivorship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unsubscribed users disappear from future engagement</a:t>
            </a:r>
          </a:p>
        </p:txBody>
      </p:sp>
    </p:spTree>
  </p:cSld>
  <p:transition spd="fast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ASSESSMENT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LO2 Evidence Bundle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validated event samples and deduplication result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metric dictionary with denominators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dashboard screenshot or HTML export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target-versus-actual interpretation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one diagnosed issue with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one controlled corrective action and expected metric movement</a:t>
            </a:r>
          </a:p>
        </p:txBody>
      </p:sp>
    </p:spTree>
  </p:cSld>
  <p:transition spd="fast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MailerLite Campaign Analytics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LO2 | K5 | A4 · 120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85</a:t>
            </a:r>
          </a:p>
        </p:txBody>
      </p:sp>
    </p:spTree>
  </p:cSld>
  <p:transition spd="med">
    <p:push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5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Fetch current MailerLite campaign statistics, normalise the report, calculate labelled metrics and publish a self-contained diagnostic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 live MailerLite campaign-report fetch, validated KPI calculation and HTML dashboard with status, target and funnel views.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n8n Webhook, Set, HTTP Request, Code, Respond to Webhook</a:t>
            </a:r>
          </a:p>
        </p:txBody>
      </p:sp>
    </p:spTree>
  </p:cSld>
  <p:transition spd="fast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5 Runtime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Dashboard request supplies a campaign 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MailerLite campaign report is fetched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HTTP response and report schema are validated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metrics use explicit denominators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HTML dashboard is returned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transition spd="fast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5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campaign ID allow-listed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HTTP status validated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metric denominators labelled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zero denominators return N/A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PII excluded from dashboard</a:t>
            </a:r>
          </a:p>
        </p:txBody>
      </p:sp>
    </p:spTree>
  </p:cSld>
  <p:transition spd="fast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5 Evidence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MailerLite report response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validated metric object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metric dictionary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dashboard HTML or screenshot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diagnostic narrative</a:t>
            </a:r>
          </a:p>
        </p:txBody>
      </p:sp>
    </p:spTree>
  </p:cSld>
  <p:transition spd="fast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5 Verification and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live report fetched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response validated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metrics recomputable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dashboard renders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diagnosis cites status/funnel evidence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401 identifies a credential problem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404 identifies an invalid campaign ID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missing statistics fail schema validation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empty denominator returns null not infinity</a:t>
            </a:r>
          </a:p>
        </p:txBody>
      </p:sp>
    </p:spTree>
  </p:cSld>
  <p:transition spd="fast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AI Agent Analysis of Market Trends and Customer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Signals -&gt; evidence -&gt; themes -&gt; confidence -&gt; controlled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91</a:t>
            </a:r>
          </a:p>
        </p:txBody>
      </p:sp>
    </p:spTree>
  </p:cSld>
  <p:transition spd="med">
    <p:push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LO3 | K6 |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Topic 03 Coverage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Mechanism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Separate observed signals from agent inference and recommended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1700784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5916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87084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7084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9148" y="1865376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Mechanism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6228" y="2414016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Combine quantitative trends with review themes and unsubscribe reasons.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024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Mechanism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Use confidence, materiality and reversible-test thresholds before changing a campaign.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5916" y="4041648"/>
            <a:ext cx="5362956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5916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7084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7084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9148" y="4206240"/>
            <a:ext cx="4466844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Mechanism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6228" y="4754880"/>
            <a:ext cx="4942332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Write approved learnings back into the next campaign brief without contaminating raw data.</a:t>
            </a:r>
          </a:p>
        </p:txBody>
      </p:sp>
    </p:spTree>
  </p:cSld>
  <p:transition spd="fast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AGENT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Trend and Feedback Analysis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Collect bounded signals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Normalize and de-identify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Cluster themes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Quantify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Recommend reversible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transition spd="fast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PROVENANCE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Evidence Card for Every Finding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finding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plain-language observation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source_ids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traceable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sample_size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records behind the claim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window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analysis period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low | medium | high with reason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counter_evidence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what weakens the claim</a:t>
            </a:r>
          </a:p>
        </p:txBody>
      </p:sp>
    </p:spTree>
  </p:cSld>
  <p:transition spd="fast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REASONING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Signal, Inference and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Observed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CTR fell from 5.4% to 3.2%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27 unsubscribe comments mention frequency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Dormant cohort had 1.2% CTR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Inferred / proposed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Frequency may be contributing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Test a lower cadence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Do not claim causality yet</a:t>
            </a:r>
          </a:p>
        </p:txBody>
      </p:sp>
    </p:spTree>
  </p:cSld>
  <p:transition spd="fast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Feedback Themes by Campaign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Frequency is the only theme with more negative than positive mentions.</a:t>
            </a:r>
          </a:p>
        </p:txBody>
      </p:sp>
    </p:spTree>
  </p:cSld>
  <p:transition spd="fast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NATIVE PPT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Trend Needs a Window and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8" y="1737360"/>
          <a:ext cx="7818120" cy="42245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823960" y="2148840"/>
            <a:ext cx="2496312" cy="3035808"/>
          </a:xfrm>
          <a:prstGeom prst="roundRect">
            <a:avLst/>
          </a:prstGeom>
          <a:solidFill>
            <a:srgbClr val="EB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450592"/>
            <a:ext cx="19659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008F83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971800"/>
            <a:ext cx="1965960" cy="1737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Three consecutive weeks below baseline justify investigation, not an automatic send change.</a:t>
            </a:r>
          </a:p>
        </p:txBody>
      </p:sp>
    </p:spTree>
  </p:cSld>
  <p:transition spd="fast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EA900"/>
                </a:solidFill>
                <a:latin typeface="Arial"/>
              </a:rPr>
              <a:t>DECISION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Priority Score for Improvement Ideas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10744200" cy="114300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24128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8232B"/>
                </a:solidFill>
                <a:latin typeface="Arial"/>
              </a:rPr>
              <a:t>Priority = impact x confidence x reversibility / effort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46120"/>
            <a:ext cx="67208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93008"/>
            <a:ext cx="6217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8F83"/>
                </a:solidFill>
                <a:latin typeface="Arial"/>
              </a:rPr>
              <a:t>REALISTIC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77639"/>
            <a:ext cx="6217920" cy="868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8232B"/>
                </a:solidFill>
                <a:latin typeface="Arial"/>
              </a:rPr>
              <a:t>Cadence test: 4 x 3 x 4 / 2 = 24; redesign: 4 x 2 x 2 / 5 = 3.2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3246120"/>
            <a:ext cx="3758184" cy="1920240"/>
          </a:xfrm>
          <a:prstGeom prst="roundRect">
            <a:avLst/>
          </a:prstGeom>
          <a:solidFill>
            <a:srgbClr val="FFF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502152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EA900"/>
                </a:solidFill>
                <a:latin typeface="Arial"/>
              </a:rPr>
              <a:t>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913632"/>
            <a:ext cx="3246120" cy="9601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8232B"/>
                </a:solidFill>
                <a:latin typeface="Arial"/>
              </a:rPr>
              <a:t>The score ranks tests; it does not replace consent, compliance or brand review.</a:t>
            </a:r>
          </a:p>
        </p:txBody>
      </p:sp>
    </p:spTree>
  </p:cSld>
  <p:transition spd="fast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Agent Recommendation Release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99</a:t>
            </a:r>
          </a:p>
        </p:txBody>
      </p:sp>
      <p:sp>
        <p:nvSpPr>
          <p:cNvPr id="10" name="Diamond 9"/>
          <p:cNvSpPr/>
          <p:nvPr/>
        </p:nvSpPr>
        <p:spPr>
          <a:xfrm>
            <a:off x="4434840" y="1874519"/>
            <a:ext cx="3246120" cy="2148840"/>
          </a:xfrm>
          <a:prstGeom prst="diamond">
            <a:avLst/>
          </a:prstGeom>
          <a:solidFill>
            <a:srgbClr val="FFF1ED"/>
          </a:solidFill>
          <a:ln w="25400">
            <a:solidFill>
              <a:srgbClr val="F06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212848"/>
            <a:ext cx="2514600" cy="12801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8232B"/>
                </a:solidFill>
                <a:latin typeface="Arial"/>
              </a:rPr>
              <a:t>Is evidence traceable, sample adequate, risk bounded and test reversible?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4983480" cy="1097280"/>
          </a:xfrm>
          <a:prstGeom prst="roundRect">
            <a:avLst/>
          </a:prstGeom>
          <a:solidFill>
            <a:srgbClr val="E9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08A59"/>
                </a:solidFill>
                <a:latin typeface="Arial"/>
              </a:rPr>
              <a:t>YES · </a:t>
            </a:r>
            <a:r>
              <a:rPr sz="1350" b="0">
                <a:solidFill>
                  <a:srgbClr val="18232B"/>
                </a:solidFill>
                <a:latin typeface="Arial"/>
              </a:rPr>
              <a:t>Add a hypothesis and test plan to the next brief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0528" y="4343400"/>
            <a:ext cx="4983480" cy="1097280"/>
          </a:xfrm>
          <a:prstGeom prst="roundRect">
            <a:avLst/>
          </a:prstGeom>
          <a:solidFill>
            <a:srgbClr val="FD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4480560"/>
            <a:ext cx="4480560" cy="777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73D37"/>
                </a:solidFill>
                <a:latin typeface="Arial"/>
              </a:rPr>
              <a:t>NO · </a:t>
            </a:r>
            <a:r>
              <a:rPr sz="1350" b="0">
                <a:solidFill>
                  <a:srgbClr val="18232B"/>
                </a:solidFill>
                <a:latin typeface="Arial"/>
              </a:rPr>
              <a:t>Return to analysis or escalate to a human owner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3200400" y="3749039"/>
            <a:ext cx="1828800" cy="594361"/>
          </a:xfrm>
          <a:prstGeom prst="bentConnector3">
            <a:avLst/>
          </a:prstGeom>
          <a:ln w="25400">
            <a:solidFill>
              <a:srgbClr val="20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3749039"/>
            <a:ext cx="1783080" cy="594361"/>
          </a:xfrm>
          <a:prstGeom prst="bentConnector3">
            <a:avLst/>
          </a:prstGeom>
          <a:ln w="25400">
            <a:solidFill>
              <a:srgbClr val="C73D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transition spd="fast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EXPERIMENT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Optimization Experiment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hypothesis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cause and expected direction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primary_metric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one decision metric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guardrail_metrics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unsubscribe, complaint, bounce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segment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eligible population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allocation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control and treatment split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831336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stop_rule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time or sample threshold</a:t>
            </a:r>
          </a:p>
        </p:txBody>
      </p:sp>
    </p:spTree>
  </p:cSld>
  <p:transition spd="fast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Feedback-Analysis Failure Modes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101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1865376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865376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755648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PII leakage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755648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raw reviews copied into prompts or slides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2724912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724912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15184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Theme collapse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2615184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670048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distinct issues merged into one label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3584448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584448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474720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Sentiment shortcut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474720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3529584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tone score replaces actual evidence</a:t>
            </a:r>
          </a:p>
        </p:txBody>
      </p:sp>
      <p:sp>
        <p:nvSpPr>
          <p:cNvPr id="25" name="Oval 24"/>
          <p:cNvSpPr/>
          <p:nvPr/>
        </p:nvSpPr>
        <p:spPr>
          <a:xfrm>
            <a:off x="749808" y="4443984"/>
            <a:ext cx="420624" cy="420624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443984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334256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A900"/>
                </a:solidFill>
                <a:latin typeface="Arial"/>
              </a:rPr>
              <a:t>Recency bias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73552" y="4334256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4389120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latest comments dominate</a:t>
            </a:r>
          </a:p>
        </p:txBody>
      </p:sp>
      <p:sp>
        <p:nvSpPr>
          <p:cNvPr id="30" name="Oval 29"/>
          <p:cNvSpPr/>
          <p:nvPr/>
        </p:nvSpPr>
        <p:spPr>
          <a:xfrm>
            <a:off x="749808" y="5303520"/>
            <a:ext cx="420624" cy="420624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03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5193792"/>
            <a:ext cx="20574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Action inflation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193792"/>
            <a:ext cx="8138160" cy="6583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248656"/>
            <a:ext cx="76352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agent proposes change without baseline or owner</a:t>
            </a:r>
          </a:p>
        </p:txBody>
      </p:sp>
    </p:spTree>
  </p:cSld>
  <p:transition spd="fast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ASSESSMENT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LO3 Evidence Bundle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de-identified feedback data 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theme counts linked to source IDs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trend chart with window and baseline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finding with counter-evidence and confidence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ranked recommendation using decision rule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0624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40624" y="4041648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41792" y="4261104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1792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50936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experiment contract with guardrails and human owner</a:t>
            </a:r>
          </a:p>
        </p:txBody>
      </p:sp>
    </p:spTree>
  </p:cSld>
  <p:transition spd="fast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Trend and Customer Feedback Optimization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LO3 | K6 | A5 · 90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731520"/>
            <a:ext cx="18288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6400" b="1">
                <a:solidFill>
                  <a:srgbClr val="DDE4E8"/>
                </a:solidFill>
                <a:latin typeface="Arial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103</a:t>
            </a:r>
          </a:p>
        </p:txBody>
      </p:sp>
    </p:spTree>
  </p:cSld>
  <p:transition spd="med">
    <p:push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6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Business need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Combine campaign trends with de-identified feedback, require evidence cards and produce a reversible experiment recommendation for human approval.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Deliverable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 trend/feedback analysis workflow with theme counts, confidence, counter-evidence, priority score and experiment contract.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Tool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n8n Code, AI Agent, Structured Output Parser, IF, Chat HITL Tool</a:t>
            </a:r>
          </a:p>
        </p:txBody>
      </p:sp>
    </p:spTree>
  </p:cSld>
  <p:transition spd="fast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HOW THE WORKFLOW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6 Runtime Mechanism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Load bounded performance window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De-identify feedback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Agent clusters themes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Code checks evidence and calculates priority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00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Human accepts experiment contract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transition spd="fast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MUST REMAIN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6 Concrete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" y="1783080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no raw email addresses in prompts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783080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1755648" cy="84124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901952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1892808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theme counts link to source 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" y="2807208"/>
            <a:ext cx="1755648" cy="841248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15184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confidence includes reason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07208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2807208"/>
            <a:ext cx="1755648" cy="841248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2916936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counter-evidence mandatory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3831336"/>
            <a:ext cx="523036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" y="3831336"/>
            <a:ext cx="1755648" cy="84124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8"/>
            <a:ext cx="1536192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Rule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3941064"/>
            <a:ext cx="3090672" cy="60350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30" b="0">
                <a:solidFill>
                  <a:srgbClr val="18232B"/>
                </a:solidFill>
                <a:latin typeface="Arial"/>
              </a:rPr>
              <a:t>experiment has guardrail metrics</a:t>
            </a:r>
          </a:p>
        </p:txBody>
      </p:sp>
    </p:spTree>
  </p:cSld>
  <p:transition spd="fast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WHAT TO CAPTURE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6 Evidence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de-identified 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2139696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Evidence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theme 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2139696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Evidence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trend chart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" y="4041648"/>
            <a:ext cx="73152" cy="2139696"/>
          </a:xfrm>
          <a:prstGeom prst="rect">
            <a:avLst/>
          </a:prstGeom>
          <a:solidFill>
            <a:srgbClr val="354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4261104"/>
            <a:ext cx="411480" cy="4114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54352"/>
                </a:solidFill>
                <a:latin typeface="Arial"/>
              </a:rPr>
              <a:t>Evidence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evidence card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31208" y="4041648"/>
            <a:ext cx="3508248" cy="2139696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31208" y="4041648"/>
            <a:ext cx="73152" cy="2139696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32376" y="4261104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2376" y="426110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4440" y="4206240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Evidence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41520" y="4754880"/>
            <a:ext cx="3087624" cy="1271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approved experiment contract</a:t>
            </a:r>
          </a:p>
        </p:txBody>
      </p:sp>
    </p:spTree>
  </p:cSld>
  <p:transition spd="fast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TEST WITHOUT CLICK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Lab 6 Verification and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Accept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PII removed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46329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46329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9928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themes trace to sources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18338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1833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193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trend has baseline/window</a:t>
            </a:r>
          </a:p>
        </p:txBody>
      </p:sp>
      <p:sp>
        <p:nvSpPr>
          <p:cNvPr id="22" name="Oval 21"/>
          <p:cNvSpPr/>
          <p:nvPr/>
        </p:nvSpPr>
        <p:spPr>
          <a:xfrm>
            <a:off x="950976" y="490347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" y="490347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83946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counter-evidence present</a:t>
            </a:r>
          </a:p>
        </p:txBody>
      </p:sp>
      <p:sp>
        <p:nvSpPr>
          <p:cNvPr id="25" name="Oval 24"/>
          <p:cNvSpPr/>
          <p:nvPr/>
        </p:nvSpPr>
        <p:spPr>
          <a:xfrm>
            <a:off x="950976" y="56235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6235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20" b="0">
                <a:solidFill>
                  <a:srgbClr val="18232B"/>
                </a:solidFill>
                <a:latin typeface="Arial"/>
              </a:rPr>
              <a:t>experiment has guardrails and approval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Diagnose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insufficient sample returns monitor</a:t>
            </a:r>
          </a:p>
        </p:txBody>
      </p:sp>
      <p:sp>
        <p:nvSpPr>
          <p:cNvPr id="34" name="Oval 33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untraceable claim fails schema</a:t>
            </a:r>
          </a:p>
        </p:txBody>
      </p:sp>
      <p:sp>
        <p:nvSpPr>
          <p:cNvPr id="37" name="Oval 36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PII detector blocks prompt</a:t>
            </a:r>
          </a:p>
        </p:txBody>
      </p:sp>
      <p:sp>
        <p:nvSpPr>
          <p:cNvPr id="40" name="Oval 39"/>
          <p:cNvSpPr/>
          <p:nvPr/>
        </p:nvSpPr>
        <p:spPr>
          <a:xfrm>
            <a:off x="6556248" y="521208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521208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514807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irreversible change requires escalation</a:t>
            </a:r>
          </a:p>
        </p:txBody>
      </p:sp>
    </p:spTree>
  </p:cSld>
  <p:transition spd="fast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85953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0674A"/>
                </a:solidFill>
                <a:latin typeface="Arial"/>
              </a:rPr>
              <a:t>COURSE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59152"/>
            <a:ext cx="9875520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8232B"/>
                </a:solidFill>
                <a:latin typeface="Arial"/>
              </a:rPr>
              <a:t>From Evidence to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840480"/>
            <a:ext cx="905256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5E6872"/>
                </a:solidFill>
                <a:latin typeface="Arial"/>
              </a:rPr>
              <a:t>Review the control loop, complete the assessment and preserve your working artifacts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109</a:t>
            </a:r>
          </a:p>
        </p:txBody>
      </p:sp>
    </p:spTree>
  </p:cSld>
  <p:transition spd="med">
    <p:push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LO1 -&gt; LO2 -&gt;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Revision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Implement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Labs 1-4: consent, brief, agents, approval and schedule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Analyse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Lab 5: event facts, metrics, cohorts and funnel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Improve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Lab 6: trends, feedback, evidence cards and experiments</a:t>
            </a:r>
          </a:p>
        </p:txBody>
      </p:sp>
    </p:spTree>
  </p:cSld>
  <p:transition spd="fast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OPEN BOOK ·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83080"/>
            <a:ext cx="5257800" cy="10972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08F83"/>
                </a:solidFill>
                <a:latin typeface="Arial"/>
              </a:rPr>
              <a:t>WA · Knowledge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K1-K6 from the deck and LG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" y="356616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Open-ended responses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4389120"/>
            <a:ext cx="365760" cy="36576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Use exact contracts and decision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257800" cy="4315968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783080"/>
            <a:ext cx="5257800" cy="10972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029968"/>
            <a:ext cx="47091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0674A"/>
                </a:solidFill>
                <a:latin typeface="Arial"/>
              </a:rPr>
              <a:t>PP · Ability</a:t>
            </a:r>
          </a:p>
        </p:txBody>
      </p:sp>
      <p:sp>
        <p:nvSpPr>
          <p:cNvPr id="25" name="Oval 24"/>
          <p:cNvSpPr/>
          <p:nvPr/>
        </p:nvSpPr>
        <p:spPr>
          <a:xfrm>
            <a:off x="6556248" y="274320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274320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67919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A1-A5 from the labs</a:t>
            </a:r>
          </a:p>
        </p:txBody>
      </p:sp>
      <p:sp>
        <p:nvSpPr>
          <p:cNvPr id="28" name="Oval 27"/>
          <p:cNvSpPr/>
          <p:nvPr/>
        </p:nvSpPr>
        <p:spPr>
          <a:xfrm>
            <a:off x="6556248" y="356616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6616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50215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Show observable evidence</a:t>
            </a:r>
          </a:p>
        </p:txBody>
      </p:sp>
      <p:sp>
        <p:nvSpPr>
          <p:cNvPr id="31" name="Oval 30"/>
          <p:cNvSpPr/>
          <p:nvPr/>
        </p:nvSpPr>
        <p:spPr>
          <a:xfrm>
            <a:off x="6556248" y="4389120"/>
            <a:ext cx="365760" cy="36576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4389120"/>
            <a:ext cx="36576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25112"/>
            <a:ext cx="4069080" cy="58521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232B"/>
                </a:solidFill>
                <a:latin typeface="Arial"/>
              </a:rPr>
              <a:t>Explain verification and failure handling</a:t>
            </a:r>
          </a:p>
        </p:txBody>
      </p:sp>
    </p:spTree>
  </p:cSld>
  <p:transition spd="fast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F0674A"/>
                </a:solidFill>
                <a:latin typeface="Arial"/>
              </a:rPr>
              <a:t>FINAL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222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222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TRAQOM survey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26156" y="3749040"/>
            <a:ext cx="256032" cy="0"/>
          </a:xfrm>
          <a:prstGeom prst="line">
            <a:avLst/>
          </a:prstGeom>
          <a:ln w="31750">
            <a:solidFill>
              <a:srgbClr val="F06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8218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46042" y="2532888"/>
            <a:ext cx="640080" cy="6400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4604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191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Assessment attendance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9976" y="3749040"/>
            <a:ext cx="256032" cy="0"/>
          </a:xfrm>
          <a:prstGeom prst="line">
            <a:avLst/>
          </a:prstGeom>
          <a:ln w="31750">
            <a:solidFill>
              <a:srgbClr val="F06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600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9862" y="2532888"/>
            <a:ext cx="640080" cy="6400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86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573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Complete WA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3796" y="3749040"/>
            <a:ext cx="256032" cy="0"/>
          </a:xfrm>
          <a:prstGeom prst="line">
            <a:avLst/>
          </a:prstGeom>
          <a:ln w="31750">
            <a:solidFill>
              <a:srgbClr val="F06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2982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3682" y="2532888"/>
            <a:ext cx="640080" cy="640080"/>
          </a:xfrm>
          <a:prstGeom prst="ellipse">
            <a:avLst/>
          </a:prstGeom>
          <a:solidFill>
            <a:srgbClr val="354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368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955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Complete PP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97616" y="3749040"/>
            <a:ext cx="256032" cy="0"/>
          </a:xfrm>
          <a:prstGeom prst="line">
            <a:avLst/>
          </a:prstGeom>
          <a:ln w="31750">
            <a:solidFill>
              <a:srgbClr val="F06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53648" y="2240280"/>
            <a:ext cx="1967788" cy="301752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17502" y="2532888"/>
            <a:ext cx="640080" cy="6400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17502" y="2532888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376" y="3410712"/>
            <a:ext cx="1748332" cy="1417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8232B"/>
                </a:solidFill>
                <a:latin typeface="Arial"/>
              </a:rPr>
              <a:t>Upload on LMS and sign record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77840"/>
            <a:ext cx="1069848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E6872"/>
                </a:solidFill>
                <a:latin typeface="Arial"/>
              </a:rPr>
              <a:t>Read left to right. Each boundary has a named payload, state transition and owner.</a:t>
            </a:r>
          </a:p>
        </p:txBody>
      </p:sp>
    </p:spTree>
  </p:cSld>
  <p:transition spd="fast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COURSE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TRAQOM Survey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Locate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Open the LMS course run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Scan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Use the displayed TRAQOM QR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Submit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Complete the survey before final sign-off</a:t>
            </a:r>
          </a:p>
        </p:txBody>
      </p:sp>
    </p:spTree>
  </p:cSld>
  <p:transition spd="fast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MANDATORY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Certificate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Confirm the spelling of your 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Confirm the address used for delivery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Complete the required LMS/TRAQOM details</a:t>
            </a:r>
          </a:p>
        </p:txBody>
      </p:sp>
    </p:spTree>
  </p:cSld>
  <p:transition spd="fast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FINAL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Attendance recorded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Attendance recorded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Complete the final SSG attendance event</a:t>
            </a:r>
          </a:p>
        </p:txBody>
      </p:sp>
    </p:spTree>
  </p:cSld>
  <p:transition spd="fast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POST-COURSE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1700784"/>
            <a:ext cx="73152" cy="448056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1920240"/>
            <a:ext cx="411480" cy="411480"/>
          </a:xfrm>
          <a:prstGeom prst="ellipse">
            <a:avLst/>
          </a:prstGeom>
          <a:solidFill>
            <a:srgbClr val="00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08F83"/>
                </a:solidFill>
                <a:latin typeface="Arial"/>
              </a:rPr>
              <a:t>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1208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1208" y="1700784"/>
            <a:ext cx="73152" cy="4480560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32376" y="1920240"/>
            <a:ext cx="411480" cy="411480"/>
          </a:xfrm>
          <a:prstGeom prst="ellipse">
            <a:avLst/>
          </a:prstGeom>
          <a:solidFill>
            <a:srgbClr val="F06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237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4440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0674A"/>
                </a:solidFill>
                <a:latin typeface="Arial"/>
              </a:rPr>
              <a:t>Telephone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520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+65 6100 0613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0624" y="1700784"/>
            <a:ext cx="3508248" cy="4480560"/>
          </a:xfrm>
          <a:prstGeom prst="roundRect">
            <a:avLst/>
          </a:prstGeom>
          <a:solidFill>
            <a:srgbClr val="F5F9F8"/>
          </a:solidFill>
          <a:ln w="12700">
            <a:solidFill>
              <a:srgbClr val="DD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0624" y="1700784"/>
            <a:ext cx="73152" cy="4480560"/>
          </a:xfrm>
          <a:prstGeom prst="rect">
            <a:avLst/>
          </a:prstGeom>
          <a:solidFill>
            <a:srgbClr val="EE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41792" y="1920240"/>
            <a:ext cx="411480" cy="411480"/>
          </a:xfrm>
          <a:prstGeom prst="ellipse">
            <a:avLst/>
          </a:prstGeom>
          <a:solidFill>
            <a:srgbClr val="EE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1792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3856" y="1865376"/>
            <a:ext cx="2612136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EA900"/>
                </a:solidFill>
                <a:latin typeface="Arial"/>
              </a:rPr>
              <a:t>Course 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0936" y="2414016"/>
            <a:ext cx="3087624" cy="3611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8232B"/>
                </a:solidFill>
                <a:latin typeface="Arial"/>
              </a:rPr>
              <a:t>https://www.tertiarycourses.com.sg/casl-agentic-ai-for-email-marketing-campaign.html</a:t>
            </a:r>
          </a:p>
        </p:txBody>
      </p:sp>
    </p:spTree>
  </p:cSld>
  <p:transition spd="fast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06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1074420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8232B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82112"/>
            <a:ext cx="99669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008F83"/>
                </a:solidFill>
                <a:latin typeface="Arial"/>
              </a:rPr>
              <a:t>Build agentic campaigns that are useful, measurable and controlled.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24528"/>
            <a:ext cx="99669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E6872"/>
                </a:solidFill>
                <a:latin typeface="Arial"/>
              </a:rPr>
              <a:t>TGS-2026064473</a:t>
            </a:r>
          </a:p>
        </p:txBody>
      </p:sp>
    </p:spTree>
  </p:cSld>
  <p:transition spd="fast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71600"/>
          </a:xfrm>
          <a:prstGeom prst="rect">
            <a:avLst/>
          </a:prstGeom>
          <a:solidFill>
            <a:srgbClr val="00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008F83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49808"/>
            <a:ext cx="10972800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8232B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35608"/>
            <a:ext cx="10927080" cy="16459"/>
          </a:xfrm>
          <a:prstGeom prst="rect">
            <a:avLst/>
          </a:prstGeom>
          <a:solidFill>
            <a:srgbClr val="DDE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217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Agentic AI for Email Marketing Campaign · TGS-2026064473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6473952"/>
            <a:ext cx="38404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>
                <a:solidFill>
                  <a:srgbClr val="5E6872"/>
                </a:solidFill>
                <a:latin typeface="Arial"/>
              </a:rPr>
              <a:t>8</a:t>
            </a:r>
          </a:p>
        </p:txBody>
      </p:sp>
      <p:pic>
        <p:nvPicPr>
          <p:cNvPr id="10" name="Picture 9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635" y="1668780"/>
            <a:ext cx="8390424" cy="4174236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21792" y="5925312"/>
            <a:ext cx="10948111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